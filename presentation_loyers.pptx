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70" d="100"/>
          <a:sy n="70" d="100"/>
        </p:scale>
        <p:origin x="594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699773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9409221" y="-254704"/>
            <a:ext cx="4572000" cy="4572000"/>
          </a:xfrm>
          <a:prstGeom prst="ellipse">
            <a:avLst/>
          </a:prstGeom>
          <a:solidFill>
            <a:srgbClr val="4F8EF7">
              <a:alpha val="1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-731520" y="4114800"/>
            <a:ext cx="2743200" cy="2743200"/>
          </a:xfrm>
          <a:prstGeom prst="ellipse">
            <a:avLst/>
          </a:prstGeom>
          <a:solidFill>
            <a:srgbClr val="22D3EE">
              <a:alpha val="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869595" y="2048698"/>
            <a:ext cx="370536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kern="0" spc="300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 4 — Python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133600" y="2307665"/>
            <a:ext cx="7177358" cy="10058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 des Loyers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2473886" y="3311458"/>
            <a:ext cx="6563208" cy="10058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Immobiliers en Inde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2572149" y="4156258"/>
            <a:ext cx="6366682" cy="74960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House Rent Prediction Dataset • 4 746 proprietes • 6 villes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2286000" y="5240741"/>
            <a:ext cx="7315200" cy="0"/>
          </a:xfrm>
          <a:prstGeom prst="line">
            <a:avLst/>
          </a:prstGeom>
          <a:noFill/>
          <a:ln w="1270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457200" y="5733085"/>
            <a:ext cx="10972800" cy="695351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Zekerya Ethmane Sow  •  C34636                                                                                                                                                                                                                                                 •  Dr. Ezyn Segnane</a:t>
            </a:r>
          </a:p>
          <a:p>
            <a:pPr marL="0" indent="0" algn="ctr">
              <a:buNone/>
            </a:pPr>
            <a:endParaRPr lang="en-US" sz="1100" dirty="0">
              <a:solidFill>
                <a:srgbClr val="94A3B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</a:t>
            </a:r>
          </a:p>
          <a:p>
            <a:pPr marL="0" indent="0" algn="ctr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Juin 2026</a:t>
            </a:r>
            <a:endParaRPr lang="en-US" sz="1100" dirty="0"/>
          </a:p>
        </p:txBody>
      </p:sp>
      <p:pic>
        <p:nvPicPr>
          <p:cNvPr id="17" name="Image 16">
            <a:extLst>
              <a:ext uri="{FF2B5EF4-FFF2-40B4-BE49-F238E27FC236}">
                <a16:creationId xmlns:a16="http://schemas.microsoft.com/office/drawing/2014/main" id="{6C4174A4-92C9-1260-5C62-13DCA17148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V="1">
            <a:off x="10591800" y="174942"/>
            <a:ext cx="1295400" cy="1296035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07B96226-2705-0F95-3DDF-F91116077CA2}"/>
              </a:ext>
            </a:extLst>
          </p:cNvPr>
          <p:cNvSpPr/>
          <p:nvPr/>
        </p:nvSpPr>
        <p:spPr>
          <a:xfrm>
            <a:off x="2838734" y="22007"/>
            <a:ext cx="5653358" cy="841739"/>
          </a:xfrm>
          <a:prstGeom prst="rect">
            <a:avLst/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15000"/>
              </a:lnSpc>
              <a:spcBef>
                <a:spcPts val="2000"/>
              </a:spcBef>
              <a:spcAft>
                <a:spcPts val="600"/>
              </a:spcAft>
              <a:buNone/>
            </a:pPr>
            <a:endParaRPr lang="fr-FR" sz="12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algn="ctr">
              <a:lnSpc>
                <a:spcPct val="115000"/>
              </a:lnSpc>
              <a:spcBef>
                <a:spcPts val="2000"/>
              </a:spcBef>
              <a:spcAft>
                <a:spcPts val="600"/>
              </a:spcAft>
              <a:buNone/>
            </a:pPr>
            <a:endParaRPr lang="fr-FR" sz="1200" dirty="0">
              <a:solidFill>
                <a:srgbClr val="000000"/>
              </a:solidFill>
              <a:latin typeface="Times New Roman" panose="02020603050405020304" pitchFamily="18" charset="0"/>
              <a:ea typeface="Calibri" panose="020F0502020204030204" pitchFamily="34" charset="0"/>
            </a:endParaRPr>
          </a:p>
          <a:p>
            <a:pPr algn="ctr">
              <a:spcBef>
                <a:spcPts val="2000"/>
              </a:spcBef>
              <a:spcAft>
                <a:spcPts val="600"/>
              </a:spcAft>
              <a:buNone/>
            </a:pPr>
            <a:r>
              <a:rPr lang="fr-FR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Université de Nouakchott </a:t>
            </a:r>
            <a:endParaRPr lang="fr-FR" sz="1100" dirty="0">
              <a:solidFill>
                <a:schemeClr val="bg1"/>
              </a:solidFill>
              <a:effectLst/>
              <a:ea typeface="Calibri" panose="020F0502020204030204" pitchFamily="34" charset="0"/>
            </a:endParaRPr>
          </a:p>
          <a:p>
            <a:pPr algn="ctr">
              <a:spcBef>
                <a:spcPts val="2000"/>
              </a:spcBef>
              <a:spcAft>
                <a:spcPts val="600"/>
              </a:spcAft>
              <a:buNone/>
            </a:pPr>
            <a:r>
              <a:rPr lang="fr-FR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Faculté des Sciences et Techniques – Département Informatique</a:t>
            </a:r>
            <a:endParaRPr lang="fr-FR" sz="1100" dirty="0">
              <a:solidFill>
                <a:schemeClr val="bg1"/>
              </a:solidFill>
              <a:effectLst/>
              <a:ea typeface="Calibri" panose="020F0502020204030204" pitchFamily="34" charset="0"/>
            </a:endParaRPr>
          </a:p>
          <a:p>
            <a:pPr algn="ctr">
              <a:spcBef>
                <a:spcPts val="2000"/>
              </a:spcBef>
              <a:spcAft>
                <a:spcPts val="600"/>
              </a:spcAft>
              <a:buNone/>
            </a:pPr>
            <a:r>
              <a:rPr lang="fr-FR" sz="1100" dirty="0">
                <a:solidFill>
                  <a:srgbClr val="000000"/>
                </a:solidFill>
                <a:effectLst/>
                <a:ea typeface="Calibri" panose="020F0502020204030204" pitchFamily="34" charset="0"/>
              </a:rPr>
              <a:t> </a:t>
            </a:r>
            <a:endParaRPr lang="fr-FR" sz="1100" dirty="0">
              <a:effectLst/>
              <a:ea typeface="Calibri" panose="020F0502020204030204" pitchFamily="34" charset="0"/>
            </a:endParaRPr>
          </a:p>
          <a:p>
            <a:pPr algn="ctr">
              <a:spcBef>
                <a:spcPts val="2000"/>
              </a:spcBef>
              <a:spcAft>
                <a:spcPts val="600"/>
              </a:spcAft>
              <a:buNone/>
            </a:pPr>
            <a:r>
              <a:rPr lang="fr-FR" sz="1100" dirty="0">
                <a:solidFill>
                  <a:srgbClr val="000000"/>
                </a:solidFill>
                <a:effectLst/>
                <a:ea typeface="Calibri" panose="020F0502020204030204" pitchFamily="34" charset="0"/>
              </a:rPr>
              <a:t> </a:t>
            </a:r>
            <a:endParaRPr lang="fr-FR" sz="1100" dirty="0">
              <a:effectLst/>
              <a:ea typeface="Calibri" panose="020F0502020204030204" pitchFamily="34" charset="0"/>
            </a:endParaRPr>
          </a:p>
          <a:p>
            <a:pPr algn="ctr">
              <a:buNone/>
            </a:pPr>
            <a:r>
              <a:rPr lang="fr-FR" sz="1100" dirty="0">
                <a:effectLst/>
                <a:ea typeface="Calibri" panose="020F0502020204030204" pitchFamily="34" charset="0"/>
              </a:rPr>
              <a:t> 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8ADCCEA-050A-A4B0-4DFB-AF3CD3282CFE}"/>
              </a:ext>
            </a:extLst>
          </p:cNvPr>
          <p:cNvSpPr/>
          <p:nvPr/>
        </p:nvSpPr>
        <p:spPr>
          <a:xfrm>
            <a:off x="3668988" y="891376"/>
            <a:ext cx="3670935" cy="572770"/>
          </a:xfrm>
          <a:prstGeom prst="rect">
            <a:avLst/>
          </a:prstGeom>
          <a:gradFill flip="none" rotWithShape="1">
            <a:gsLst>
              <a:gs pos="0">
                <a:schemeClr val="dk1">
                  <a:lumMod val="67000"/>
                </a:schemeClr>
              </a:gs>
              <a:gs pos="48000">
                <a:schemeClr val="dk1">
                  <a:lumMod val="97000"/>
                  <a:lumOff val="3000"/>
                </a:schemeClr>
              </a:gs>
              <a:gs pos="100000">
                <a:schemeClr val="dk1">
                  <a:lumMod val="60000"/>
                  <a:lumOff val="4000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2000"/>
              </a:spcBef>
              <a:spcAft>
                <a:spcPts val="600"/>
              </a:spcAft>
              <a:buNone/>
            </a:pPr>
            <a:r>
              <a:rPr lang="fr-FR" sz="1200" dirty="0">
                <a:solidFill>
                  <a:schemeClr val="bg1"/>
                </a:solidFill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Master 1 / Statistique et Sciences des Données </a:t>
            </a:r>
            <a:endParaRPr lang="fr-FR" sz="1100" dirty="0">
              <a:solidFill>
                <a:schemeClr val="bg1"/>
              </a:solidFill>
              <a:effectLst/>
              <a:ea typeface="Calibri" panose="020F0502020204030204" pitchFamily="34" charset="0"/>
            </a:endParaRPr>
          </a:p>
          <a:p>
            <a:pPr algn="ctr">
              <a:buNone/>
            </a:pPr>
            <a:r>
              <a:rPr lang="fr-FR" sz="1100" dirty="0">
                <a:effectLst/>
                <a:ea typeface="Calibri" panose="020F0502020204030204" pitchFamily="34" charset="0"/>
              </a:rPr>
              <a:t> </a:t>
            </a:r>
          </a:p>
        </p:txBody>
      </p:sp>
      <p:cxnSp>
        <p:nvCxnSpPr>
          <p:cNvPr id="21" name="Connecteur droit 20">
            <a:extLst>
              <a:ext uri="{FF2B5EF4-FFF2-40B4-BE49-F238E27FC236}">
                <a16:creationId xmlns:a16="http://schemas.microsoft.com/office/drawing/2014/main" id="{5AF37DEE-42EB-A1DA-4C2D-94F9950C62A0}"/>
              </a:ext>
            </a:extLst>
          </p:cNvPr>
          <p:cNvCxnSpPr>
            <a:cxnSpLocks/>
          </p:cNvCxnSpPr>
          <p:nvPr/>
        </p:nvCxnSpPr>
        <p:spPr>
          <a:xfrm>
            <a:off x="2236868" y="2414458"/>
            <a:ext cx="697082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21">
            <a:extLst>
              <a:ext uri="{FF2B5EF4-FFF2-40B4-BE49-F238E27FC236}">
                <a16:creationId xmlns:a16="http://schemas.microsoft.com/office/drawing/2014/main" id="{C877B7BD-C731-6648-798F-1937952DE1FD}"/>
              </a:ext>
            </a:extLst>
          </p:cNvPr>
          <p:cNvCxnSpPr/>
          <p:nvPr/>
        </p:nvCxnSpPr>
        <p:spPr>
          <a:xfrm>
            <a:off x="1837898" y="3298889"/>
            <a:ext cx="675109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Plan de la Presentation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0972800" cy="0"/>
          </a:xfrm>
          <a:prstGeom prst="line">
            <a:avLst/>
          </a:prstGeom>
          <a:noFill/>
          <a:ln w="1905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731520" cy="914400"/>
          </a:xfrm>
          <a:prstGeom prst="roundRect">
            <a:avLst>
              <a:gd name="adj" fmla="val 15000"/>
            </a:avLst>
          </a:prstGeom>
          <a:solidFill>
            <a:srgbClr val="4F8E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123444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Contexte &amp; Dataset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057400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457200" y="2057400"/>
            <a:ext cx="731520" cy="914400"/>
          </a:xfrm>
          <a:prstGeom prst="roundRect">
            <a:avLst>
              <a:gd name="adj" fmla="val 15000"/>
            </a:avLst>
          </a:prstGeom>
          <a:solidFill>
            <a:srgbClr val="4F8E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57200" y="228600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228600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Pipeline &amp; Preprocessing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731520" cy="914400"/>
          </a:xfrm>
          <a:prstGeom prst="roundRect">
            <a:avLst>
              <a:gd name="adj" fmla="val 15000"/>
            </a:avLst>
          </a:prstGeom>
          <a:solidFill>
            <a:srgbClr val="4F8E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457200" y="333756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05840" y="333756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Algorithmes testes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160520"/>
            <a:ext cx="10972800" cy="914400"/>
          </a:xfrm>
          <a:prstGeom prst="roundRect">
            <a:avLst>
              <a:gd name="adj" fmla="val 12000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457200" y="4160520"/>
            <a:ext cx="731520" cy="914400"/>
          </a:xfrm>
          <a:prstGeom prst="roundRect">
            <a:avLst>
              <a:gd name="adj" fmla="val 15000"/>
            </a:avLst>
          </a:prstGeom>
          <a:solidFill>
            <a:srgbClr val="4F8E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457200" y="4389120"/>
            <a:ext cx="731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1005840" y="4389120"/>
            <a:ext cx="9601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Resultats &amp; Metriques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5120640"/>
            <a:ext cx="3566160" cy="777240"/>
          </a:xfrm>
          <a:prstGeom prst="roundRect">
            <a:avLst>
              <a:gd name="adj" fmla="val 14118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94360" y="516636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188720" y="521208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Analyse des variables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297680" y="5120640"/>
            <a:ext cx="3566160" cy="777240"/>
          </a:xfrm>
          <a:prstGeom prst="roundRect">
            <a:avLst>
              <a:gd name="adj" fmla="val 14118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4434840" y="516636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5029200" y="521208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 Dashboard &amp; Deploiement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138160" y="5120640"/>
            <a:ext cx="3566160" cy="777240"/>
          </a:xfrm>
          <a:prstGeom prst="roundRect">
            <a:avLst>
              <a:gd name="adj" fmla="val 14118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8275320" y="5166360"/>
            <a:ext cx="548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8869680" y="521208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Discussion &amp; Conclusion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 — Contexte &amp; Dataset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0972800" cy="0"/>
          </a:xfrm>
          <a:prstGeom prst="line">
            <a:avLst/>
          </a:prstGeom>
          <a:noFill/>
          <a:ln w="1905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2468880" cy="54864"/>
          </a:xfrm>
          <a:prstGeom prst="rect">
            <a:avLst/>
          </a:prstGeom>
          <a:solidFill>
            <a:srgbClr val="4F8E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94360" y="112471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PROPRIETES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94360" y="137160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4 678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 nettoyage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108960" y="96012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3108960" y="960120"/>
            <a:ext cx="2468880" cy="54864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3246120" y="112471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VILLES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46120" y="137160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3246120" y="1984248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toute l'Inde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0720" y="96012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5760720" y="960120"/>
            <a:ext cx="2468880" cy="54864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897880" y="112471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 MEDIAN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897880" y="137160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₹16 000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897880" y="1984248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 / mois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412480" y="960120"/>
            <a:ext cx="2468880" cy="1371600"/>
          </a:xfrm>
          <a:prstGeom prst="roundRect">
            <a:avLst>
              <a:gd name="adj" fmla="val 8000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8412480" y="960120"/>
            <a:ext cx="2468880" cy="54864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8549640" y="1124712"/>
            <a:ext cx="2194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R²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549640" y="137160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85.02%</a:t>
            </a:r>
            <a:endParaRPr lang="en-US" sz="2400" dirty="0"/>
          </a:p>
        </p:txBody>
      </p:sp>
      <p:sp>
        <p:nvSpPr>
          <p:cNvPr id="24" name="Text 22"/>
          <p:cNvSpPr/>
          <p:nvPr/>
        </p:nvSpPr>
        <p:spPr>
          <a:xfrm>
            <a:off x="8549640" y="1984248"/>
            <a:ext cx="21945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tune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57200" y="2560320"/>
            <a:ext cx="5120640" cy="3657600"/>
          </a:xfrm>
          <a:prstGeom prst="roundRect">
            <a:avLst>
              <a:gd name="adj" fmla="val 3000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640080" y="26974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Repartition par ville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310896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194560" y="310896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 biens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40480" y="310896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Loyer moyen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3538728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194560" y="3538728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348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840480" y="3538728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₹48 000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48640" y="3922776"/>
            <a:ext cx="4754880" cy="0"/>
          </a:xfrm>
          <a:prstGeom prst="line">
            <a:avLst/>
          </a:prstGeom>
          <a:noFill/>
          <a:ln w="635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548640" y="3968496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2194560" y="3968496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1 200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840480" y="3968496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₹35 000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8640" y="4352544"/>
            <a:ext cx="4754880" cy="0"/>
          </a:xfrm>
          <a:prstGeom prst="line">
            <a:avLst/>
          </a:prstGeom>
          <a:noFill/>
          <a:ln w="635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548640" y="4398264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Bangalore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194560" y="4398264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1 300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3840480" y="4398264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₹28 000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4782312"/>
            <a:ext cx="4754880" cy="0"/>
          </a:xfrm>
          <a:prstGeom prst="line">
            <a:avLst/>
          </a:prstGeom>
          <a:noFill/>
          <a:ln w="635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2" name="Text 40"/>
          <p:cNvSpPr/>
          <p:nvPr/>
        </p:nvSpPr>
        <p:spPr>
          <a:xfrm>
            <a:off x="548640" y="482803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Hyderabad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2194560" y="482803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480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3840480" y="4828032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₹22 000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48640" y="5212080"/>
            <a:ext cx="4754880" cy="0"/>
          </a:xfrm>
          <a:prstGeom prst="line">
            <a:avLst/>
          </a:prstGeom>
          <a:noFill/>
          <a:ln w="635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548640" y="525780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Chennai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2194560" y="525780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840480" y="5257800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₹14 000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548640" y="5641848"/>
            <a:ext cx="4754880" cy="0"/>
          </a:xfrm>
          <a:prstGeom prst="line">
            <a:avLst/>
          </a:prstGeom>
          <a:noFill/>
          <a:ln w="635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0" name="Text 48"/>
          <p:cNvSpPr/>
          <p:nvPr/>
        </p:nvSpPr>
        <p:spPr>
          <a:xfrm>
            <a:off x="548640" y="5687568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Kolkata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2194560" y="5687568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950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3840480" y="5687568"/>
            <a:ext cx="1554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₹10 000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548640" y="6071616"/>
            <a:ext cx="4754880" cy="0"/>
          </a:xfrm>
          <a:prstGeom prst="line">
            <a:avLst/>
          </a:prstGeom>
          <a:noFill/>
          <a:ln w="635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4" name="Shape 52"/>
          <p:cNvSpPr/>
          <p:nvPr/>
        </p:nvSpPr>
        <p:spPr>
          <a:xfrm>
            <a:off x="5852160" y="2560320"/>
            <a:ext cx="5577840" cy="3657600"/>
          </a:xfrm>
          <a:prstGeom prst="roundRect">
            <a:avLst>
              <a:gd name="adj" fmla="val 3000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5" name="Text 53"/>
          <p:cNvSpPr/>
          <p:nvPr/>
        </p:nvSpPr>
        <p:spPr>
          <a:xfrm>
            <a:off x="6035040" y="269748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variables disponibles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5989320" y="3200400"/>
            <a:ext cx="201168" cy="201168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7" name="Text 55"/>
          <p:cNvSpPr/>
          <p:nvPr/>
        </p:nvSpPr>
        <p:spPr>
          <a:xfrm>
            <a:off x="6309360" y="310896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BHK, Size, Bathroom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8686800" y="310896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numeriques cles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5989320" y="3630168"/>
            <a:ext cx="201168" cy="201168"/>
          </a:xfrm>
          <a:prstGeom prst="ellipse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0" name="Text 58"/>
          <p:cNvSpPr/>
          <p:nvPr/>
        </p:nvSpPr>
        <p:spPr>
          <a:xfrm>
            <a:off x="6309360" y="353872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Floor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8686800" y="353872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Etage — extraction numerique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989320" y="4059936"/>
            <a:ext cx="201168" cy="201168"/>
          </a:xfrm>
          <a:prstGeom prst="ellipse">
            <a:avLst/>
          </a:prstGeom>
          <a:solidFill>
            <a:srgbClr val="4F8E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3" name="Text 61"/>
          <p:cNvSpPr/>
          <p:nvPr/>
        </p:nvSpPr>
        <p:spPr>
          <a:xfrm>
            <a:off x="6309360" y="3968496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City, Area Type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8686800" y="3968496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Localisation (6 villes)</a:t>
            </a:r>
            <a:endParaRPr lang="en-US" sz="900" dirty="0"/>
          </a:p>
        </p:txBody>
      </p:sp>
      <p:sp>
        <p:nvSpPr>
          <p:cNvPr id="65" name="Shape 63"/>
          <p:cNvSpPr/>
          <p:nvPr/>
        </p:nvSpPr>
        <p:spPr>
          <a:xfrm>
            <a:off x="5989320" y="4489704"/>
            <a:ext cx="201168" cy="201168"/>
          </a:xfrm>
          <a:prstGeom prst="ellipse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6" name="Text 64"/>
          <p:cNvSpPr/>
          <p:nvPr/>
        </p:nvSpPr>
        <p:spPr>
          <a:xfrm>
            <a:off x="6309360" y="4398264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Furnishing Status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8686800" y="4398264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Meuble / Semi / Non meuble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5989320" y="4919472"/>
            <a:ext cx="201168" cy="201168"/>
          </a:xfrm>
          <a:prstGeom prst="ellipse">
            <a:avLst/>
          </a:prstGeom>
          <a:solidFill>
            <a:srgbClr val="F472B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69" name="Text 67"/>
          <p:cNvSpPr/>
          <p:nvPr/>
        </p:nvSpPr>
        <p:spPr>
          <a:xfrm>
            <a:off x="6309360" y="48280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 Preferred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8686800" y="4828032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Bachelors / Family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5989320" y="5349240"/>
            <a:ext cx="201168" cy="201168"/>
          </a:xfrm>
          <a:prstGeom prst="ellipse">
            <a:avLst/>
          </a:prstGeom>
          <a:solidFill>
            <a:srgbClr val="F472B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2" name="Text 70"/>
          <p:cNvSpPr/>
          <p:nvPr/>
        </p:nvSpPr>
        <p:spPr>
          <a:xfrm>
            <a:off x="6309360" y="5257800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of Contact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8686800" y="525780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Variable la plus influente !</a:t>
            </a:r>
            <a:endParaRPr lang="en-US" sz="900" dirty="0"/>
          </a:p>
        </p:txBody>
      </p:sp>
      <p:sp>
        <p:nvSpPr>
          <p:cNvPr id="74" name="Shape 72"/>
          <p:cNvSpPr/>
          <p:nvPr/>
        </p:nvSpPr>
        <p:spPr>
          <a:xfrm>
            <a:off x="5989320" y="5779008"/>
            <a:ext cx="201168" cy="201168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5" name="Text 73"/>
          <p:cNvSpPr/>
          <p:nvPr/>
        </p:nvSpPr>
        <p:spPr>
          <a:xfrm>
            <a:off x="6309360" y="5687568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8686800" y="5687568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CIBLE : loyer en roupies/mois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 — Pipeline &amp; Preprocessing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0972800" cy="0"/>
          </a:xfrm>
          <a:prstGeom prst="line">
            <a:avLst/>
          </a:prstGeom>
          <a:noFill/>
          <a:ln w="1905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2194560" y="2880360"/>
            <a:ext cx="457200" cy="0"/>
          </a:xfrm>
          <a:prstGeom prst="line">
            <a:avLst/>
          </a:prstGeom>
          <a:noFill/>
          <a:ln w="2540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365760" y="1005840"/>
            <a:ext cx="1828800" cy="3657600"/>
          </a:xfrm>
          <a:prstGeom prst="roundRect">
            <a:avLst>
              <a:gd name="adj" fmla="val 7500"/>
            </a:avLst>
          </a:prstGeom>
          <a:solidFill>
            <a:srgbClr val="111827"/>
          </a:solidFill>
          <a:ln w="1270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365760" y="1005840"/>
            <a:ext cx="1828800" cy="73152"/>
          </a:xfrm>
          <a:prstGeom prst="rect">
            <a:avLst/>
          </a:prstGeom>
          <a:solidFill>
            <a:srgbClr val="4F8E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65760" y="11430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2194560"/>
            <a:ext cx="1463040" cy="0"/>
          </a:xfrm>
          <a:prstGeom prst="line">
            <a:avLst/>
          </a:prstGeom>
          <a:noFill/>
          <a:ln w="1016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457200" y="2331720"/>
            <a:ext cx="1645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distributions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Correlations, skewness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26280" y="2880360"/>
            <a:ext cx="457200" cy="0"/>
          </a:xfrm>
          <a:prstGeom prst="line">
            <a:avLst/>
          </a:prstGeom>
          <a:noFill/>
          <a:ln w="2540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2697480" y="1005840"/>
            <a:ext cx="1828800" cy="3657600"/>
          </a:xfrm>
          <a:prstGeom prst="roundRect">
            <a:avLst>
              <a:gd name="adj" fmla="val 7500"/>
            </a:avLst>
          </a:prstGeom>
          <a:solidFill>
            <a:srgbClr val="111827"/>
          </a:solidFill>
          <a:ln w="1270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2697480" y="1005840"/>
            <a:ext cx="1828800" cy="73152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2697480" y="11430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2697480" y="17373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Nettoyage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880360" y="2194560"/>
            <a:ext cx="1463040" cy="0"/>
          </a:xfrm>
          <a:prstGeom prst="line">
            <a:avLst/>
          </a:prstGeom>
          <a:noFill/>
          <a:ln w="1016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2788920" y="2331720"/>
            <a:ext cx="1645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doublons supprimes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aberrantes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0" y="2880360"/>
            <a:ext cx="457200" cy="0"/>
          </a:xfrm>
          <a:prstGeom prst="line">
            <a:avLst/>
          </a:prstGeom>
          <a:noFill/>
          <a:ln w="2540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5029200" y="1005840"/>
            <a:ext cx="1828800" cy="3657600"/>
          </a:xfrm>
          <a:prstGeom prst="roundRect">
            <a:avLst>
              <a:gd name="adj" fmla="val 7500"/>
            </a:avLst>
          </a:prstGeom>
          <a:solidFill>
            <a:srgbClr val="111827"/>
          </a:solidFill>
          <a:ln w="127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Shape 19"/>
          <p:cNvSpPr/>
          <p:nvPr/>
        </p:nvSpPr>
        <p:spPr>
          <a:xfrm>
            <a:off x="5029200" y="1005840"/>
            <a:ext cx="1828800" cy="73152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029200" y="11430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5029200" y="17373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Encodage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212080" y="2194560"/>
            <a:ext cx="1463040" cy="0"/>
          </a:xfrm>
          <a:prstGeom prst="line">
            <a:avLst/>
          </a:prstGeom>
          <a:noFill/>
          <a:ln w="1016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5120640" y="2331720"/>
            <a:ext cx="1645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encoding x5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 etage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9189720" y="2880360"/>
            <a:ext cx="457200" cy="0"/>
          </a:xfrm>
          <a:prstGeom prst="line">
            <a:avLst/>
          </a:prstGeom>
          <a:noFill/>
          <a:ln w="2540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7360920" y="1005840"/>
            <a:ext cx="1828800" cy="3657600"/>
          </a:xfrm>
          <a:prstGeom prst="roundRect">
            <a:avLst>
              <a:gd name="adj" fmla="val 7500"/>
            </a:avLst>
          </a:prstGeom>
          <a:solidFill>
            <a:srgbClr val="111827"/>
          </a:solidFill>
          <a:ln w="1270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8" name="Shape 26"/>
          <p:cNvSpPr/>
          <p:nvPr/>
        </p:nvSpPr>
        <p:spPr>
          <a:xfrm>
            <a:off x="7360920" y="1005840"/>
            <a:ext cx="1828800" cy="73152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9" name="Text 27"/>
          <p:cNvSpPr/>
          <p:nvPr/>
        </p:nvSpPr>
        <p:spPr>
          <a:xfrm>
            <a:off x="7360920" y="11430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7360920" y="17373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7543800" y="2194560"/>
            <a:ext cx="1463040" cy="0"/>
          </a:xfrm>
          <a:prstGeom prst="line">
            <a:avLst/>
          </a:prstGeom>
          <a:noFill/>
          <a:ln w="1016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7452360" y="2331720"/>
            <a:ext cx="1645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Log(Rent), Log(Size)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Standardisation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692640" y="1005840"/>
            <a:ext cx="1828800" cy="3657600"/>
          </a:xfrm>
          <a:prstGeom prst="roundRect">
            <a:avLst>
              <a:gd name="adj" fmla="val 7500"/>
            </a:avLst>
          </a:prstGeom>
          <a:solidFill>
            <a:srgbClr val="111827"/>
          </a:solidFill>
          <a:ln w="12700">
            <a:solidFill>
              <a:srgbClr val="F472B6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9692640" y="1005840"/>
            <a:ext cx="1828800" cy="73152"/>
          </a:xfrm>
          <a:prstGeom prst="rect">
            <a:avLst/>
          </a:prstGeom>
          <a:solidFill>
            <a:srgbClr val="F472B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9692640" y="11430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472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2800" dirty="0"/>
          </a:p>
        </p:txBody>
      </p:sp>
      <p:sp>
        <p:nvSpPr>
          <p:cNvPr id="36" name="Text 34"/>
          <p:cNvSpPr/>
          <p:nvPr/>
        </p:nvSpPr>
        <p:spPr>
          <a:xfrm>
            <a:off x="9692640" y="1737360"/>
            <a:ext cx="1828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Split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9875520" y="2194560"/>
            <a:ext cx="1463040" cy="0"/>
          </a:xfrm>
          <a:prstGeom prst="line">
            <a:avLst/>
          </a:prstGeom>
          <a:noFill/>
          <a:ln w="1016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9784080" y="2331720"/>
            <a:ext cx="16459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train / 20% test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random_state=42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4892040"/>
            <a:ext cx="11155680" cy="1005840"/>
          </a:xfrm>
          <a:prstGeom prst="roundRect">
            <a:avLst>
              <a:gd name="adj" fmla="val 10909"/>
            </a:avLst>
          </a:prstGeom>
          <a:solidFill>
            <a:srgbClr val="1C2639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548640" y="49834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Traitements cles appliques : Log-transform sur Rent (reduire skewness) + Label Encoding sur 5 variables categorielles (City, Area Type, Furnishing Status, Tenant Preferred, Point of Contact) + extraction numerique de l'etage depuis la chaine textuelle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 — Algorithmes Testes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0972800" cy="0"/>
          </a:xfrm>
          <a:prstGeom prst="line">
            <a:avLst/>
          </a:prstGeom>
          <a:noFill/>
          <a:ln w="1905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2011680" cy="489204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 w="1016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457200" y="118872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Regression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Lineaire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0.731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57200" y="2697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3063240"/>
            <a:ext cx="1645920" cy="0"/>
          </a:xfrm>
          <a:prstGeom prst="line">
            <a:avLst/>
          </a:prstGeom>
          <a:noFill/>
          <a:ln w="1016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8"/>
          <p:cNvSpPr/>
          <p:nvPr/>
        </p:nvSpPr>
        <p:spPr>
          <a:xfrm>
            <a:off x="457200" y="32004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— relation lineaire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mais limite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4360" y="5212080"/>
            <a:ext cx="1554480" cy="320040"/>
          </a:xfrm>
          <a:prstGeom prst="roundRect">
            <a:avLst>
              <a:gd name="adj" fmla="val 28571"/>
            </a:avLst>
          </a:prstGeom>
          <a:solidFill>
            <a:srgbClr val="94A3B8">
              <a:alpha val="2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594360" y="52120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97480" y="1005840"/>
            <a:ext cx="2011680" cy="489204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 w="10160">
            <a:solidFill>
              <a:srgbClr val="4F8EF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2788920" y="118872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Random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Forest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88920" y="201168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0.822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2788920" y="2697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880360" y="3063240"/>
            <a:ext cx="1645920" cy="0"/>
          </a:xfrm>
          <a:prstGeom prst="line">
            <a:avLst/>
          </a:prstGeom>
          <a:noFill/>
          <a:ln w="1016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Text 16"/>
          <p:cNvSpPr/>
          <p:nvPr/>
        </p:nvSpPr>
        <p:spPr>
          <a:xfrm>
            <a:off x="2788920" y="32004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100 arbres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Robuste au bruit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926080" y="5212080"/>
            <a:ext cx="1554480" cy="320040"/>
          </a:xfrm>
          <a:prstGeom prst="roundRect">
            <a:avLst>
              <a:gd name="adj" fmla="val 28571"/>
            </a:avLst>
          </a:prstGeom>
          <a:solidFill>
            <a:srgbClr val="4F8EF7">
              <a:alpha val="2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2926080" y="52120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bon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0" y="1005840"/>
            <a:ext cx="2011680" cy="489204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 w="10160">
            <a:solidFill>
              <a:srgbClr val="22D3E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5120640" y="118872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Gradient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Boosting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120640" y="201168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0.844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5120640" y="2697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212080" y="3063240"/>
            <a:ext cx="1645920" cy="0"/>
          </a:xfrm>
          <a:prstGeom prst="line">
            <a:avLst/>
          </a:prstGeom>
          <a:noFill/>
          <a:ln w="1016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5120640" y="32004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Apprentissage sequentiel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des erreurs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257800" y="5212080"/>
            <a:ext cx="1554480" cy="320040"/>
          </a:xfrm>
          <a:prstGeom prst="roundRect">
            <a:avLst>
              <a:gd name="adj" fmla="val 28571"/>
            </a:avLst>
          </a:prstGeom>
          <a:solidFill>
            <a:srgbClr val="22D3EE">
              <a:alpha val="2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5257800" y="52120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360920" y="1005840"/>
            <a:ext cx="2011680" cy="4892040"/>
          </a:xfrm>
          <a:prstGeom prst="roundRect">
            <a:avLst>
              <a:gd name="adj" fmla="val 6818"/>
            </a:avLst>
          </a:prstGeom>
          <a:solidFill>
            <a:srgbClr val="0D2A1A"/>
          </a:solidFill>
          <a:ln w="25400">
            <a:solidFill>
              <a:srgbClr val="34D39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8"/>
          <p:cNvSpPr/>
          <p:nvPr/>
        </p:nvSpPr>
        <p:spPr>
          <a:xfrm>
            <a:off x="7360920" y="1005840"/>
            <a:ext cx="2011680" cy="411480"/>
          </a:xfrm>
          <a:prstGeom prst="roundRect">
            <a:avLst>
              <a:gd name="adj" fmla="val 33333"/>
            </a:avLst>
          </a:prstGeom>
          <a:solidFill>
            <a:srgbClr val="34D39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7360920" y="10058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MEILLEUR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52360" y="155448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XGBoost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Tune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452360" y="237744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0.850</a:t>
            </a:r>
            <a:endParaRPr lang="en-US" sz="3000" dirty="0"/>
          </a:p>
        </p:txBody>
      </p:sp>
      <p:sp>
        <p:nvSpPr>
          <p:cNvPr id="34" name="Text 32"/>
          <p:cNvSpPr/>
          <p:nvPr/>
        </p:nvSpPr>
        <p:spPr>
          <a:xfrm>
            <a:off x="7452360" y="30632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543800" y="3429000"/>
            <a:ext cx="1645920" cy="0"/>
          </a:xfrm>
          <a:prstGeom prst="line">
            <a:avLst/>
          </a:prstGeom>
          <a:noFill/>
          <a:ln w="1016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34"/>
          <p:cNvSpPr/>
          <p:nvPr/>
        </p:nvSpPr>
        <p:spPr>
          <a:xfrm>
            <a:off x="7452360" y="356616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GridSearchCV tuning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 modele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589520" y="4663440"/>
            <a:ext cx="1554480" cy="320040"/>
          </a:xfrm>
          <a:prstGeom prst="roundRect">
            <a:avLst>
              <a:gd name="adj" fmla="val 28571"/>
            </a:avLst>
          </a:prstGeom>
          <a:solidFill>
            <a:srgbClr val="34D399">
              <a:alpha val="2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8" name="Text 36"/>
          <p:cNvSpPr/>
          <p:nvPr/>
        </p:nvSpPr>
        <p:spPr>
          <a:xfrm>
            <a:off x="7589520" y="466344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MEILLEUR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9692640" y="1005840"/>
            <a:ext cx="2011680" cy="4892040"/>
          </a:xfrm>
          <a:prstGeom prst="roundRect">
            <a:avLst>
              <a:gd name="adj" fmla="val 6818"/>
            </a:avLst>
          </a:prstGeom>
          <a:solidFill>
            <a:srgbClr val="111827"/>
          </a:solidFill>
          <a:ln w="10160">
            <a:solidFill>
              <a:srgbClr val="FBBF24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9784080" y="1188720"/>
            <a:ext cx="1828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SVR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(RBF)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9784080" y="2011680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0.807</a:t>
            </a:r>
            <a:endParaRPr lang="en-US" sz="3000" dirty="0"/>
          </a:p>
        </p:txBody>
      </p:sp>
      <p:sp>
        <p:nvSpPr>
          <p:cNvPr id="42" name="Text 40"/>
          <p:cNvSpPr/>
          <p:nvPr/>
        </p:nvSpPr>
        <p:spPr>
          <a:xfrm>
            <a:off x="9784080" y="269748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9875520" y="3063240"/>
            <a:ext cx="1645920" cy="0"/>
          </a:xfrm>
          <a:prstGeom prst="line">
            <a:avLst/>
          </a:prstGeom>
          <a:noFill/>
          <a:ln w="1016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4" name="Text 42"/>
          <p:cNvSpPr/>
          <p:nvPr/>
        </p:nvSpPr>
        <p:spPr>
          <a:xfrm>
            <a:off x="9784080" y="3200400"/>
            <a:ext cx="1828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Noyau RBF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 mais plus lent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9921240" y="5212080"/>
            <a:ext cx="1554480" cy="320040"/>
          </a:xfrm>
          <a:prstGeom prst="roundRect">
            <a:avLst>
              <a:gd name="adj" fmla="val 28571"/>
            </a:avLst>
          </a:prstGeom>
          <a:solidFill>
            <a:srgbClr val="FBBF24">
              <a:alpha val="20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6" name="Text 44"/>
          <p:cNvSpPr/>
          <p:nvPr/>
        </p:nvSpPr>
        <p:spPr>
          <a:xfrm>
            <a:off x="9921240" y="521208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BF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 — Resultats &amp; Metriques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0972800" cy="0"/>
          </a:xfrm>
          <a:prstGeom prst="line">
            <a:avLst/>
          </a:prstGeom>
          <a:noFill/>
          <a:ln w="1905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2560320" cy="1280160"/>
          </a:xfrm>
          <a:prstGeom prst="roundRect">
            <a:avLst>
              <a:gd name="adj" fmla="val 8571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2560320" cy="457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Text 5"/>
          <p:cNvSpPr/>
          <p:nvPr/>
        </p:nvSpPr>
        <p:spPr>
          <a:xfrm>
            <a:off x="548640" y="10972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R² = 0.8502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de la variance expliquee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960120"/>
            <a:ext cx="2560320" cy="1280160"/>
          </a:xfrm>
          <a:prstGeom prst="roundRect">
            <a:avLst>
              <a:gd name="adj" fmla="val 8571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Shape 8"/>
          <p:cNvSpPr/>
          <p:nvPr/>
        </p:nvSpPr>
        <p:spPr>
          <a:xfrm>
            <a:off x="3291840" y="960120"/>
            <a:ext cx="2560320" cy="45720"/>
          </a:xfrm>
          <a:prstGeom prst="rect">
            <a:avLst/>
          </a:prstGeom>
          <a:solidFill>
            <a:srgbClr val="4F8E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3383280" y="10972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MAE = ₹9 075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38328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absolue moyenne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26480" y="960120"/>
            <a:ext cx="2560320" cy="1280160"/>
          </a:xfrm>
          <a:prstGeom prst="roundRect">
            <a:avLst>
              <a:gd name="adj" fmla="val 8571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4" name="Shape 12"/>
          <p:cNvSpPr/>
          <p:nvPr/>
        </p:nvSpPr>
        <p:spPr>
          <a:xfrm>
            <a:off x="6126480" y="960120"/>
            <a:ext cx="2560320" cy="4572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Text 13"/>
          <p:cNvSpPr/>
          <p:nvPr/>
        </p:nvSpPr>
        <p:spPr>
          <a:xfrm>
            <a:off x="6217920" y="10972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RMSE = ₹21 316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21792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Erreur quadratique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961120" y="960120"/>
            <a:ext cx="2560320" cy="1280160"/>
          </a:xfrm>
          <a:prstGeom prst="roundRect">
            <a:avLst>
              <a:gd name="adj" fmla="val 8571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8961120" y="960120"/>
            <a:ext cx="2560320" cy="45720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Text 17"/>
          <p:cNvSpPr/>
          <p:nvPr/>
        </p:nvSpPr>
        <p:spPr>
          <a:xfrm>
            <a:off x="9052560" y="10972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CV R² = 0.712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052560" y="1691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croisee 5-fold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2423160"/>
            <a:ext cx="10972800" cy="3657600"/>
          </a:xfrm>
          <a:prstGeom prst="roundRect">
            <a:avLst>
              <a:gd name="adj" fmla="val 3000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2" name="Text 20"/>
          <p:cNvSpPr/>
          <p:nvPr/>
        </p:nvSpPr>
        <p:spPr>
          <a:xfrm>
            <a:off x="640080" y="25420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4F8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R² par modele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5760" y="54864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Reg. Lineaire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822960" y="4461540"/>
            <a:ext cx="914400" cy="887700"/>
          </a:xfrm>
          <a:prstGeom prst="roundRect">
            <a:avLst>
              <a:gd name="adj" fmla="val 5150"/>
            </a:avLst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822960" y="414150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0.7309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48840" y="54864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SVR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2606040" y="3629802"/>
            <a:ext cx="914400" cy="1719438"/>
          </a:xfrm>
          <a:prstGeom prst="roundRect">
            <a:avLst>
              <a:gd name="adj" fmla="val 5000"/>
            </a:avLst>
          </a:prstGeom>
          <a:solidFill>
            <a:srgbClr val="FBBF2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2606040" y="3309762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0.8067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931920" y="54864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Forest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389120" y="3463016"/>
            <a:ext cx="914400" cy="1886224"/>
          </a:xfrm>
          <a:prstGeom prst="roundRect">
            <a:avLst>
              <a:gd name="adj" fmla="val 5000"/>
            </a:avLst>
          </a:prstGeom>
          <a:solidFill>
            <a:srgbClr val="4F8E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Text 29"/>
          <p:cNvSpPr/>
          <p:nvPr/>
        </p:nvSpPr>
        <p:spPr>
          <a:xfrm>
            <a:off x="4389120" y="314297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0.8219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715000" y="54864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Boost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172200" y="3224906"/>
            <a:ext cx="914400" cy="2124334"/>
          </a:xfrm>
          <a:prstGeom prst="roundRect">
            <a:avLst>
              <a:gd name="adj" fmla="val 5000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4" name="Text 32"/>
          <p:cNvSpPr/>
          <p:nvPr/>
        </p:nvSpPr>
        <p:spPr>
          <a:xfrm>
            <a:off x="6172200" y="2904866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0.8436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498080" y="54864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7955280" y="3306105"/>
            <a:ext cx="914400" cy="2043135"/>
          </a:xfrm>
          <a:prstGeom prst="roundRect">
            <a:avLst>
              <a:gd name="adj" fmla="val 5000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7" name="Text 35"/>
          <p:cNvSpPr/>
          <p:nvPr/>
        </p:nvSpPr>
        <p:spPr>
          <a:xfrm>
            <a:off x="7955280" y="2986065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0.8362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9281160" y="548640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Tune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9738360" y="3152485"/>
            <a:ext cx="914400" cy="2196755"/>
          </a:xfrm>
          <a:prstGeom prst="roundRect">
            <a:avLst>
              <a:gd name="adj" fmla="val 5000"/>
            </a:avLst>
          </a:prstGeom>
          <a:solidFill>
            <a:srgbClr val="34D39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0" name="Text 38"/>
          <p:cNvSpPr/>
          <p:nvPr/>
        </p:nvSpPr>
        <p:spPr>
          <a:xfrm>
            <a:off x="9738360" y="2832445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0.8502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40080" y="5440680"/>
            <a:ext cx="10515600" cy="0"/>
          </a:xfrm>
          <a:prstGeom prst="line">
            <a:avLst/>
          </a:prstGeom>
          <a:noFill/>
          <a:ln w="1270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05 — Importance des Variables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0972800" cy="0"/>
          </a:xfrm>
          <a:prstGeom prst="line">
            <a:avLst/>
          </a:prstGeom>
          <a:noFill/>
          <a:ln w="1905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de Contact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474720" y="1051560"/>
            <a:ext cx="7498080" cy="320040"/>
          </a:xfrm>
          <a:prstGeom prst="roundRect">
            <a:avLst>
              <a:gd name="adj" fmla="val 14286"/>
            </a:avLst>
          </a:prstGeom>
          <a:solidFill>
            <a:srgbClr val="1C26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3474720" y="1051560"/>
            <a:ext cx="4776094" cy="320040"/>
          </a:xfrm>
          <a:prstGeom prst="roundRect">
            <a:avLst>
              <a:gd name="adj" fmla="val 14286"/>
            </a:avLst>
          </a:prstGeom>
          <a:solidFill>
            <a:srgbClr val="F472B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11109960" y="96012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472B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65.3%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7373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Salles de bain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74720" y="1828800"/>
            <a:ext cx="7498080" cy="320040"/>
          </a:xfrm>
          <a:prstGeom prst="roundRect">
            <a:avLst>
              <a:gd name="adj" fmla="val 14286"/>
            </a:avLst>
          </a:prstGeom>
          <a:solidFill>
            <a:srgbClr val="1C26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1" name="Shape 9"/>
          <p:cNvSpPr/>
          <p:nvPr/>
        </p:nvSpPr>
        <p:spPr>
          <a:xfrm>
            <a:off x="3474720" y="1828800"/>
            <a:ext cx="1351849" cy="320040"/>
          </a:xfrm>
          <a:prstGeom prst="roundRect">
            <a:avLst>
              <a:gd name="adj" fmla="val 14286"/>
            </a:avLst>
          </a:prstGeom>
          <a:solidFill>
            <a:srgbClr val="4F8E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11109960" y="173736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18.5%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251460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Ville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474720" y="2606040"/>
            <a:ext cx="7498080" cy="320040"/>
          </a:xfrm>
          <a:prstGeom prst="roundRect">
            <a:avLst>
              <a:gd name="adj" fmla="val 14286"/>
            </a:avLst>
          </a:prstGeom>
          <a:solidFill>
            <a:srgbClr val="1C26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5" name="Shape 13"/>
          <p:cNvSpPr/>
          <p:nvPr/>
        </p:nvSpPr>
        <p:spPr>
          <a:xfrm>
            <a:off x="3474720" y="2606040"/>
            <a:ext cx="452811" cy="320040"/>
          </a:xfrm>
          <a:prstGeom prst="roundRect">
            <a:avLst>
              <a:gd name="adj" fmla="val 14286"/>
            </a:avLst>
          </a:prstGeom>
          <a:solidFill>
            <a:srgbClr val="22D3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6" name="Text 14"/>
          <p:cNvSpPr/>
          <p:nvPr/>
        </p:nvSpPr>
        <p:spPr>
          <a:xfrm>
            <a:off x="11109960" y="251460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22D3E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6.2%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29184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BHK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474720" y="3383280"/>
            <a:ext cx="7498080" cy="320040"/>
          </a:xfrm>
          <a:prstGeom prst="roundRect">
            <a:avLst>
              <a:gd name="adj" fmla="val 14286"/>
            </a:avLst>
          </a:prstGeom>
          <a:solidFill>
            <a:srgbClr val="1C26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3474720" y="3383280"/>
            <a:ext cx="245059" cy="320040"/>
          </a:xfrm>
          <a:prstGeom prst="roundRect">
            <a:avLst>
              <a:gd name="adj" fmla="val 18657"/>
            </a:avLst>
          </a:prstGeom>
          <a:solidFill>
            <a:srgbClr val="34D39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11109960" y="329184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D39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406908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(log)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3474720" y="4160520"/>
            <a:ext cx="7498080" cy="320040"/>
          </a:xfrm>
          <a:prstGeom prst="roundRect">
            <a:avLst>
              <a:gd name="adj" fmla="val 14286"/>
            </a:avLst>
          </a:prstGeom>
          <a:solidFill>
            <a:srgbClr val="1C26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3" name="Shape 21"/>
          <p:cNvSpPr/>
          <p:nvPr/>
        </p:nvSpPr>
        <p:spPr>
          <a:xfrm>
            <a:off x="3474720" y="4160520"/>
            <a:ext cx="215067" cy="320040"/>
          </a:xfrm>
          <a:prstGeom prst="roundRect">
            <a:avLst>
              <a:gd name="adj" fmla="val 21258"/>
            </a:avLst>
          </a:prstGeom>
          <a:solidFill>
            <a:srgbClr val="FBBF2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4" name="Text 22"/>
          <p:cNvSpPr/>
          <p:nvPr/>
        </p:nvSpPr>
        <p:spPr>
          <a:xfrm>
            <a:off x="11109960" y="406908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BF2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2.9%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84632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Meublage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474720" y="4937760"/>
            <a:ext cx="7498080" cy="320040"/>
          </a:xfrm>
          <a:prstGeom prst="roundRect">
            <a:avLst>
              <a:gd name="adj" fmla="val 14286"/>
            </a:avLst>
          </a:prstGeom>
          <a:solidFill>
            <a:srgbClr val="1C26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7" name="Shape 25"/>
          <p:cNvSpPr/>
          <p:nvPr/>
        </p:nvSpPr>
        <p:spPr>
          <a:xfrm>
            <a:off x="3474720" y="4937760"/>
            <a:ext cx="152156" cy="320040"/>
          </a:xfrm>
          <a:prstGeom prst="roundRect">
            <a:avLst>
              <a:gd name="adj" fmla="val 30048"/>
            </a:avLst>
          </a:prstGeom>
          <a:solidFill>
            <a:srgbClr val="94A3B8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8" name="Text 26"/>
          <p:cNvSpPr/>
          <p:nvPr/>
        </p:nvSpPr>
        <p:spPr>
          <a:xfrm>
            <a:off x="11109960" y="484632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94A3B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2.1%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5623560"/>
            <a:ext cx="29260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Etage, Superficie, Locataire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3474720" y="5715000"/>
            <a:ext cx="7498080" cy="320040"/>
          </a:xfrm>
          <a:prstGeom prst="roundRect">
            <a:avLst>
              <a:gd name="adj" fmla="val 14286"/>
            </a:avLst>
          </a:prstGeom>
          <a:solidFill>
            <a:srgbClr val="1C26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1" name="Shape 29"/>
          <p:cNvSpPr/>
          <p:nvPr/>
        </p:nvSpPr>
        <p:spPr>
          <a:xfrm>
            <a:off x="3474720" y="5715000"/>
            <a:ext cx="120701" cy="320040"/>
          </a:xfrm>
          <a:prstGeom prst="roundRect">
            <a:avLst>
              <a:gd name="adj" fmla="val 37879"/>
            </a:avLst>
          </a:prstGeom>
          <a:solidFill>
            <a:srgbClr val="1C263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2" name="Text 30"/>
          <p:cNvSpPr/>
          <p:nvPr/>
        </p:nvSpPr>
        <p:spPr>
          <a:xfrm>
            <a:off x="11109960" y="5623560"/>
            <a:ext cx="7315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C263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1.7%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6172200"/>
            <a:ext cx="10972800" cy="777240"/>
          </a:xfrm>
          <a:prstGeom prst="roundRect">
            <a:avLst>
              <a:gd name="adj" fmla="val 14118"/>
            </a:avLst>
          </a:prstGeom>
          <a:solidFill>
            <a:srgbClr val="0D1F3C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Shape 32"/>
          <p:cNvSpPr/>
          <p:nvPr/>
        </p:nvSpPr>
        <p:spPr>
          <a:xfrm>
            <a:off x="457200" y="6172200"/>
            <a:ext cx="54864" cy="777240"/>
          </a:xfrm>
          <a:prstGeom prst="rect">
            <a:avLst/>
          </a:prstGeom>
          <a:solidFill>
            <a:srgbClr val="F472B6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5" name="Text 33"/>
          <p:cNvSpPr/>
          <p:nvPr/>
        </p:nvSpPr>
        <p:spPr>
          <a:xfrm>
            <a:off x="731520" y="626364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cle : Point de Contact (65.3%) domine — les biens via agents/builders ciblent le segment premium. Salles de bain (18.5%) et Ville (6.2%) confirment les drivers classiques du marche immobilier.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06 — Dashboard &amp; Deploiement Web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0972800" cy="0"/>
          </a:xfrm>
          <a:prstGeom prst="line">
            <a:avLst/>
          </a:prstGeom>
          <a:noFill/>
          <a:ln w="1905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5486400" cy="2148840"/>
          </a:xfrm>
          <a:prstGeom prst="roundRect">
            <a:avLst>
              <a:gd name="adj" fmla="val 5106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5486400" cy="45720"/>
          </a:xfrm>
          <a:prstGeom prst="rect">
            <a:avLst/>
          </a:prstGeom>
          <a:solidFill>
            <a:srgbClr val="4F8EF7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640080" y="1188720"/>
            <a:ext cx="502920" cy="502920"/>
          </a:xfrm>
          <a:prstGeom prst="ellipse">
            <a:avLst/>
          </a:prstGeom>
          <a:solidFill>
            <a:srgbClr val="4F8EF7">
              <a:alpha val="2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640080" y="1188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25880" y="11430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Dashboard EDA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1737360"/>
            <a:ext cx="5120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Visualisations interactives : loyers par ville, par meublage, BHK, comparaison modeles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960120"/>
            <a:ext cx="5486400" cy="2148840"/>
          </a:xfrm>
          <a:prstGeom prst="roundRect">
            <a:avLst>
              <a:gd name="adj" fmla="val 5106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6217920" y="960120"/>
            <a:ext cx="5486400" cy="457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Shape 11"/>
          <p:cNvSpPr/>
          <p:nvPr/>
        </p:nvSpPr>
        <p:spPr>
          <a:xfrm>
            <a:off x="6400800" y="1188720"/>
            <a:ext cx="502920" cy="502920"/>
          </a:xfrm>
          <a:prstGeom prst="ellipse">
            <a:avLst/>
          </a:prstGeom>
          <a:solidFill>
            <a:srgbClr val="34D399">
              <a:alpha val="2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4" name="Text 12"/>
          <p:cNvSpPr/>
          <p:nvPr/>
        </p:nvSpPr>
        <p:spPr>
          <a:xfrm>
            <a:off x="6400800" y="11887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🔮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086600" y="114300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 individuelle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355080" y="1737360"/>
            <a:ext cx="5120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Formulaire de saisie manuelle → estimation instantanee avec fourchette de confiance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429000"/>
            <a:ext cx="5486400" cy="2148840"/>
          </a:xfrm>
          <a:prstGeom prst="roundRect">
            <a:avLst>
              <a:gd name="adj" fmla="val 5106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6"/>
          <p:cNvSpPr/>
          <p:nvPr/>
        </p:nvSpPr>
        <p:spPr>
          <a:xfrm>
            <a:off x="457200" y="3429000"/>
            <a:ext cx="5486400" cy="45720"/>
          </a:xfrm>
          <a:prstGeom prst="rect">
            <a:avLst/>
          </a:prstGeom>
          <a:solidFill>
            <a:srgbClr val="22D3EE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9" name="Shape 17"/>
          <p:cNvSpPr/>
          <p:nvPr/>
        </p:nvSpPr>
        <p:spPr>
          <a:xfrm>
            <a:off x="640080" y="3657600"/>
            <a:ext cx="502920" cy="502920"/>
          </a:xfrm>
          <a:prstGeom prst="ellipse">
            <a:avLst/>
          </a:prstGeom>
          <a:solidFill>
            <a:srgbClr val="22D3EE">
              <a:alpha val="2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0" name="Text 18"/>
          <p:cNvSpPr/>
          <p:nvPr/>
        </p:nvSpPr>
        <p:spPr>
          <a:xfrm>
            <a:off x="640080" y="3657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📁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25880" y="36118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Prediction par fichier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" y="4206240"/>
            <a:ext cx="5120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CSV → predictions batch pour plusieurs logements, export resultats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3429000"/>
            <a:ext cx="5486400" cy="2148840"/>
          </a:xfrm>
          <a:prstGeom prst="roundRect">
            <a:avLst>
              <a:gd name="adj" fmla="val 5106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6217920" y="3429000"/>
            <a:ext cx="5486400" cy="45720"/>
          </a:xfrm>
          <a:prstGeom prst="rect">
            <a:avLst/>
          </a:prstGeom>
          <a:solidFill>
            <a:srgbClr val="FBBF24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Shape 23"/>
          <p:cNvSpPr/>
          <p:nvPr/>
        </p:nvSpPr>
        <p:spPr>
          <a:xfrm>
            <a:off x="6400800" y="3657600"/>
            <a:ext cx="502920" cy="502920"/>
          </a:xfrm>
          <a:prstGeom prst="ellipse">
            <a:avLst/>
          </a:prstGeom>
          <a:solidFill>
            <a:srgbClr val="FBBF24">
              <a:alpha val="25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6" name="Text 24"/>
          <p:cNvSpPr/>
          <p:nvPr/>
        </p:nvSpPr>
        <p:spPr>
          <a:xfrm>
            <a:off x="6400800" y="36576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🤖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7086600" y="3611880"/>
            <a:ext cx="4389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Analyse des modeles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355080" y="4206240"/>
            <a:ext cx="51206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Comparaison R²/MAE/RMSE, CV scores, hyperparametres, feature importance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6035040"/>
            <a:ext cx="10972800" cy="822960"/>
          </a:xfrm>
          <a:prstGeom prst="roundRect">
            <a:avLst>
              <a:gd name="adj" fmla="val 13333"/>
            </a:avLst>
          </a:prstGeom>
          <a:solidFill>
            <a:srgbClr val="1C2639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Text 28"/>
          <p:cNvSpPr/>
          <p:nvPr/>
        </p:nvSpPr>
        <p:spPr>
          <a:xfrm>
            <a:off x="731520" y="61264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 : Python (scikit-learn, XGBoost, pandas) → Modele entraine → Dashboard HTML/CSS/JS autonome (aucun serveur requis, deploiement instantane)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A0E1A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5486400" y="-1371600"/>
            <a:ext cx="4572000" cy="4572000"/>
          </a:xfrm>
          <a:prstGeom prst="ellipse">
            <a:avLst/>
          </a:prstGeom>
          <a:solidFill>
            <a:srgbClr val="4F8EF7">
              <a:alpha val="12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4" name="Shape 2"/>
          <p:cNvSpPr/>
          <p:nvPr/>
        </p:nvSpPr>
        <p:spPr>
          <a:xfrm>
            <a:off x="-731520" y="4114800"/>
            <a:ext cx="2743200" cy="2743200"/>
          </a:xfrm>
          <a:prstGeom prst="ellipse">
            <a:avLst/>
          </a:prstGeom>
          <a:solidFill>
            <a:srgbClr val="22D3EE">
              <a:alpha val="8000"/>
            </a:srgbClr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457200" y="228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8EF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07 — Conclusion &amp; Perspectives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777240"/>
            <a:ext cx="10972800" cy="0"/>
          </a:xfrm>
          <a:prstGeom prst="line">
            <a:avLst/>
          </a:prstGeom>
          <a:noFill/>
          <a:ln w="19050">
            <a:solidFill>
              <a:srgbClr val="1C2639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7" name="Shape 5"/>
          <p:cNvSpPr/>
          <p:nvPr/>
        </p:nvSpPr>
        <p:spPr>
          <a:xfrm>
            <a:off x="457200" y="960120"/>
            <a:ext cx="10972800" cy="822960"/>
          </a:xfrm>
          <a:prstGeom prst="roundRect">
            <a:avLst>
              <a:gd name="adj" fmla="val 13333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Shape 6"/>
          <p:cNvSpPr/>
          <p:nvPr/>
        </p:nvSpPr>
        <p:spPr>
          <a:xfrm>
            <a:off x="457200" y="960120"/>
            <a:ext cx="54864" cy="82296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594360" y="1005840"/>
            <a:ext cx="502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100584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= 85.02% avec XGBoost tune — objectif depasse (&gt;80%)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1920240"/>
            <a:ext cx="10972800" cy="822960"/>
          </a:xfrm>
          <a:prstGeom prst="roundRect">
            <a:avLst>
              <a:gd name="adj" fmla="val 13333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54864" cy="82296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3" name="Text 11"/>
          <p:cNvSpPr/>
          <p:nvPr/>
        </p:nvSpPr>
        <p:spPr>
          <a:xfrm>
            <a:off x="594360" y="1965960"/>
            <a:ext cx="502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196596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complet : EDA → Nettoyage → Encodage → Modeles → Validation croisee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880360"/>
            <a:ext cx="10972800" cy="822960"/>
          </a:xfrm>
          <a:prstGeom prst="roundRect">
            <a:avLst>
              <a:gd name="adj" fmla="val 13333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Shape 14"/>
          <p:cNvSpPr/>
          <p:nvPr/>
        </p:nvSpPr>
        <p:spPr>
          <a:xfrm>
            <a:off x="457200" y="2880360"/>
            <a:ext cx="54864" cy="82296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17" name="Text 15"/>
          <p:cNvSpPr/>
          <p:nvPr/>
        </p:nvSpPr>
        <p:spPr>
          <a:xfrm>
            <a:off x="594360" y="2926080"/>
            <a:ext cx="502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292608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algorithmes compares avec GridSearchCV et hyperparametres justifies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3840480"/>
            <a:ext cx="10972800" cy="822960"/>
          </a:xfrm>
          <a:prstGeom prst="roundRect">
            <a:avLst>
              <a:gd name="adj" fmla="val 13333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54864" cy="82296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1" name="Text 19"/>
          <p:cNvSpPr/>
          <p:nvPr/>
        </p:nvSpPr>
        <p:spPr>
          <a:xfrm>
            <a:off x="594360" y="3886200"/>
            <a:ext cx="502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34440" y="388620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deploye : prediction individuelle + batch CSV + visualisations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4800600"/>
            <a:ext cx="10972800" cy="822960"/>
          </a:xfrm>
          <a:prstGeom prst="roundRect">
            <a:avLst>
              <a:gd name="adj" fmla="val 13333"/>
            </a:avLst>
          </a:prstGeom>
          <a:solidFill>
            <a:srgbClr val="111827"/>
          </a:solidFill>
          <a:ln w="6350">
            <a:solidFill>
              <a:srgbClr val="1E2D47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22"/>
          <p:cNvSpPr/>
          <p:nvPr/>
        </p:nvSpPr>
        <p:spPr>
          <a:xfrm>
            <a:off x="457200" y="4800600"/>
            <a:ext cx="54864" cy="82296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lstStyle/>
          <a:p>
            <a:endParaRPr lang="fr-FR"/>
          </a:p>
        </p:txBody>
      </p:sp>
      <p:sp>
        <p:nvSpPr>
          <p:cNvPr id="25" name="Text 23"/>
          <p:cNvSpPr/>
          <p:nvPr/>
        </p:nvSpPr>
        <p:spPr>
          <a:xfrm>
            <a:off x="594360" y="4846320"/>
            <a:ext cx="502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234440" y="4846320"/>
            <a:ext cx="9966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1F5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cles identifiees : Point de contact, Salles de bain, Ville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5943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691</Words>
  <Application>Microsoft Office PowerPoint</Application>
  <PresentationFormat>Grand écran</PresentationFormat>
  <Paragraphs>214</Paragraphs>
  <Slides>9</Slides>
  <Notes>9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4" baseType="lpstr">
      <vt:lpstr>Arial</vt:lpstr>
      <vt:lpstr>Calibri</vt:lpstr>
      <vt:lpstr>Times New Roman</vt:lpstr>
      <vt:lpstr>Trebuchet MS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Zak Sow</cp:lastModifiedBy>
  <cp:revision>2</cp:revision>
  <dcterms:created xsi:type="dcterms:W3CDTF">2026-06-04T20:44:09Z</dcterms:created>
  <dcterms:modified xsi:type="dcterms:W3CDTF">2026-06-05T15:37:46Z</dcterms:modified>
</cp:coreProperties>
</file>