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061" autoAdjust="0"/>
  </p:normalViewPr>
  <p:slideViewPr>
    <p:cSldViewPr snapToGrid="0" snapToObjects="1">
      <p:cViewPr varScale="1">
        <p:scale>
          <a:sx n="70" d="100"/>
          <a:sy n="70" d="100"/>
        </p:scale>
        <p:origin x="594" y="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40" d="100"/>
          <a:sy n="40" d="100"/>
        </p:scale>
        <p:origin x="319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97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COD\Desktop\projet_python\templater\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409221" y="-254704"/>
            <a:ext cx="4572000" cy="4572000"/>
          </a:xfrm>
          <a:prstGeom prst="ellipse">
            <a:avLst/>
          </a:prstGeom>
          <a:solidFill>
            <a:srgbClr val="4F8EF7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731520" y="411480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69595" y="2048698"/>
            <a:ext cx="37053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PROJET 4 — Python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33600" y="2307665"/>
            <a:ext cx="7177358" cy="1005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Prediction des Loyers</a:t>
            </a:r>
            <a:endParaRPr lang="en-US" sz="5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73886" y="3311458"/>
            <a:ext cx="6563208" cy="1005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Immobiliers en Inde</a:t>
            </a:r>
            <a:endParaRPr lang="en-US" sz="4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0" y="5240741"/>
            <a:ext cx="7315200" cy="0"/>
          </a:xfrm>
          <a:prstGeom prst="line">
            <a:avLst/>
          </a:prstGeom>
          <a:noFill/>
          <a:ln w="127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9137" y="5978688"/>
            <a:ext cx="10972800" cy="807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Zekerya Ethmane Sow  •  C34636                                                                                                                                                                                              Dr. Ezyn Segnane</a:t>
            </a:r>
          </a:p>
          <a:p>
            <a:pPr marL="0" indent="0" algn="ctr">
              <a:buNone/>
            </a:pPr>
            <a:endParaRPr lang="en-US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Juin 2026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C4174A4-92C9-1260-5C62-13DCA1714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0591800" y="174942"/>
            <a:ext cx="1295400" cy="129603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B96226-2705-0F95-3DDF-F91116077CA2}"/>
              </a:ext>
            </a:extLst>
          </p:cNvPr>
          <p:cNvSpPr/>
          <p:nvPr/>
        </p:nvSpPr>
        <p:spPr>
          <a:xfrm>
            <a:off x="2821518" y="72038"/>
            <a:ext cx="5653358" cy="841739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endParaRPr lang="fr-FR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endParaRPr lang="fr-FR" sz="1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spcBef>
                <a:spcPts val="2000"/>
              </a:spcBef>
              <a:spcAft>
                <a:spcPts val="600"/>
              </a:spcAft>
              <a:buNone/>
            </a:pPr>
            <a:r>
              <a:rPr lang="fr-FR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Université de Nouakchott </a:t>
            </a:r>
            <a:endParaRPr lang="fr-FR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2000"/>
              </a:spcBef>
              <a:spcAft>
                <a:spcPts val="600"/>
              </a:spcAft>
              <a:buNone/>
            </a:pPr>
            <a:r>
              <a:rPr lang="fr-FR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Faculté des Sciences et Techniques – Département Informatique</a:t>
            </a:r>
            <a:endParaRPr lang="fr-FR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2000"/>
              </a:spcBef>
              <a:spcAft>
                <a:spcPts val="600"/>
              </a:spcAft>
              <a:buNone/>
            </a:pPr>
            <a:r>
              <a:rPr lang="fr-FR" sz="1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 </a:t>
            </a:r>
            <a:endParaRPr lang="fr-FR" sz="1100" dirty="0">
              <a:effectLst/>
              <a:ea typeface="Calibri" panose="020F0502020204030204" pitchFamily="34" charset="0"/>
            </a:endParaRPr>
          </a:p>
          <a:p>
            <a:pPr algn="ctr">
              <a:spcBef>
                <a:spcPts val="2000"/>
              </a:spcBef>
              <a:spcAft>
                <a:spcPts val="600"/>
              </a:spcAft>
              <a:buNone/>
            </a:pPr>
            <a:r>
              <a:rPr lang="fr-FR" sz="1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 </a:t>
            </a:r>
            <a:endParaRPr lang="fr-FR" sz="1100" dirty="0">
              <a:effectLst/>
              <a:ea typeface="Calibri" panose="020F0502020204030204" pitchFamily="34" charset="0"/>
            </a:endParaRPr>
          </a:p>
          <a:p>
            <a:pPr algn="ctr">
              <a:buNone/>
            </a:pPr>
            <a:r>
              <a:rPr lang="fr-FR" sz="1100" dirty="0">
                <a:effectLst/>
                <a:ea typeface="Calibri" panose="020F0502020204030204" pitchFamily="34" charset="0"/>
              </a:rPr>
              <a:t>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ADCCEA-050A-A4B0-4DFB-AF3CD3282CFE}"/>
              </a:ext>
            </a:extLst>
          </p:cNvPr>
          <p:cNvSpPr/>
          <p:nvPr/>
        </p:nvSpPr>
        <p:spPr>
          <a:xfrm>
            <a:off x="3869595" y="1043261"/>
            <a:ext cx="3670935" cy="57277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0"/>
              </a:spcBef>
              <a:spcAft>
                <a:spcPts val="600"/>
              </a:spcAft>
              <a:buNone/>
            </a:pPr>
            <a:r>
              <a:rPr lang="fr-FR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Master 1 / Statistique et Sciences des Données </a:t>
            </a:r>
            <a:endParaRPr lang="fr-FR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fr-FR" sz="1100" dirty="0">
                <a:effectLst/>
                <a:ea typeface="Calibri" panose="020F0502020204030204" pitchFamily="34" charset="0"/>
              </a:rPr>
              <a:t> 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AF37DEE-42EB-A1DA-4C2D-94F9950C62A0}"/>
              </a:ext>
            </a:extLst>
          </p:cNvPr>
          <p:cNvCxnSpPr>
            <a:cxnSpLocks/>
          </p:cNvCxnSpPr>
          <p:nvPr/>
        </p:nvCxnSpPr>
        <p:spPr>
          <a:xfrm>
            <a:off x="2236868" y="2414458"/>
            <a:ext cx="6970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877B7BD-C731-6648-798F-1937952DE1FD}"/>
              </a:ext>
            </a:extLst>
          </p:cNvPr>
          <p:cNvCxnSpPr/>
          <p:nvPr/>
        </p:nvCxnSpPr>
        <p:spPr>
          <a:xfrm>
            <a:off x="1837898" y="3298889"/>
            <a:ext cx="67510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Plan de la Presentation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0" cy="91440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69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Contexte &amp;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31520" cy="91440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910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 &amp; Preprocessing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731520" cy="91440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771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Algorithmes testes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731520" cy="91440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Resultats &amp;  Analyses des variables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5212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166360"/>
            <a:ext cx="10927080" cy="777240"/>
          </a:xfrm>
          <a:prstGeom prst="roundRect">
            <a:avLst>
              <a:gd name="adj" fmla="val 14118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347034" y="5234939"/>
            <a:ext cx="3087806" cy="602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🌐  Dashboard &amp; Deploiement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4074" y="6111808"/>
            <a:ext cx="10905926" cy="654752"/>
          </a:xfrm>
          <a:prstGeom prst="roundRect">
            <a:avLst>
              <a:gd name="adj" fmla="val 14118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347034" y="614285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Discussion &amp; 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E83206E1-06CB-2BBB-6272-0596C72E1F23}"/>
              </a:ext>
            </a:extLst>
          </p:cNvPr>
          <p:cNvSpPr/>
          <p:nvPr/>
        </p:nvSpPr>
        <p:spPr>
          <a:xfrm>
            <a:off x="524074" y="5151688"/>
            <a:ext cx="731520" cy="91440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CC798741-FE57-1A7B-E4E0-4B11CF8A8A63}"/>
              </a:ext>
            </a:extLst>
          </p:cNvPr>
          <p:cNvSpPr/>
          <p:nvPr/>
        </p:nvSpPr>
        <p:spPr>
          <a:xfrm>
            <a:off x="524074" y="53721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01 — Contexte &amp; Dataset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468880" cy="54864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124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PROPRIETES</a:t>
            </a:r>
            <a:endPara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4 678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apres nettoyage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08960" y="960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108960" y="960120"/>
            <a:ext cx="24688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46120" y="1124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dans toute l'Inde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960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760720" y="960120"/>
            <a:ext cx="246888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897880" y="1124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LOYER MEDIAN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₹16 000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97880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Rs / mois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12480" y="9601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412480" y="960120"/>
            <a:ext cx="2468880" cy="5486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549640" y="1124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MEILLEUR R²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4964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85.02%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49640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 tune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Text 24"/>
          <p:cNvSpPr/>
          <p:nvPr/>
        </p:nvSpPr>
        <p:spPr>
          <a:xfrm>
            <a:off x="6400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Repartition par ville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9456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Nb biens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4048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Loyer moyen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538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Mumbai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194560" y="3538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40480" y="3538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3922776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48640" y="39684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Delhi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194560" y="39684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840480" y="39684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4352544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48640" y="43982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Bangalore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194560" y="43982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40480" y="43982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4782312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48640" y="4828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Hyderabad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194560" y="4828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3840480" y="4828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5212080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48640" y="5257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Chenna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94560" y="5257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840480" y="5257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48640" y="5641848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48640" y="56875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Kolkata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194560" y="56875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3840480" y="56875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₹10 000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6071616"/>
            <a:ext cx="4754880" cy="0"/>
          </a:xfrm>
          <a:prstGeom prst="line">
            <a:avLst/>
          </a:prstGeom>
          <a:noFill/>
          <a:ln w="63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5852160" y="256032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035040" y="2697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variables disponibles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989320" y="32004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309360" y="3108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BHK, Size, Bathroom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686800" y="3108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 numeriques cles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989320" y="3630168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309360" y="35387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686800" y="35387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Etage — extraction numerique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989320" y="4059936"/>
            <a:ext cx="201168" cy="201168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309360" y="39684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City, Area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86800" y="3968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Localisation (6 villes)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989320" y="4489704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6309360" y="43982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Furnishing Status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686800" y="4398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Meuble / Semi / Non meuble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989320" y="4919472"/>
            <a:ext cx="201168" cy="20116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6309360" y="48280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Tenant Preferred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686800" y="4828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Bachelors / Family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989320" y="5349240"/>
            <a:ext cx="201168" cy="20116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6309360" y="5257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 of Contact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686800" y="5257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 Variable la plus influente !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989320" y="577900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6309360" y="56875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686800" y="5687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CIBLE : loyer en roupies/mois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02 — Pipeline &amp; Preprocessing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194560" y="2880360"/>
            <a:ext cx="457200" cy="0"/>
          </a:xfrm>
          <a:prstGeom prst="line">
            <a:avLst/>
          </a:prstGeom>
          <a:noFill/>
          <a:ln w="254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828800" cy="731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EDA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46304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Analyse distributions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Correlations, skewness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26280" y="2880360"/>
            <a:ext cx="457200" cy="0"/>
          </a:xfrm>
          <a:prstGeom prst="line">
            <a:avLst/>
          </a:prstGeom>
          <a:noFill/>
          <a:ln w="254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697480" y="10058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697480" y="1005840"/>
            <a:ext cx="182880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69748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Nettoyage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80360" y="2194560"/>
            <a:ext cx="146304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88920" y="23317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68 doublons supprimes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Valeurs aberrantes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0" y="2880360"/>
            <a:ext cx="457200" cy="0"/>
          </a:xfrm>
          <a:prstGeom prst="line">
            <a:avLst/>
          </a:prstGeom>
          <a:noFill/>
          <a:ln w="254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9200" y="10058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029200" y="1005840"/>
            <a:ext cx="182880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Encodage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194560"/>
            <a:ext cx="146304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120640" y="23317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 encoding x5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Extraction etage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89720" y="2880360"/>
            <a:ext cx="457200" cy="0"/>
          </a:xfrm>
          <a:prstGeom prst="line">
            <a:avLst/>
          </a:prstGeom>
          <a:noFill/>
          <a:ln w="254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360920" y="10058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360920" y="1005840"/>
            <a:ext cx="1828800" cy="7315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36092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609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Transform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543800" y="2194560"/>
            <a:ext cx="146304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452360" y="23317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Log(Rent), Log(Size)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Standardisation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92640" y="100584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9692640" y="1005840"/>
            <a:ext cx="1828800" cy="73152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69264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69264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Split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875520" y="2194560"/>
            <a:ext cx="146304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9784080" y="23317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80% train / 20% test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random_state=42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1C2639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48640" y="498348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Traitements cles appliques : Log-transform sur Rent (reduire skewness) + Label Encoding sur 5 variables categorielles (City, Area Type, Furnishing Status, Tenant Preferred, Point of Contact) + extraction numerique de l'etage depuis la chaine textuelle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03 — Algorithmes Testes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0" cy="489204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Regression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Lineaire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0.731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64592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— relation lineaire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 mais limite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521208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94A3B8">
              <a:alpha val="20000"/>
            </a:srgbClr>
          </a:solidFill>
          <a:ln/>
        </p:spPr>
        <p:txBody>
          <a:bodyPr/>
          <a:lstStyle/>
          <a:p>
            <a:endParaRPr lang="fr-FR" sz="200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97480" y="1005840"/>
            <a:ext cx="2011680" cy="489204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016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8892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Random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Forest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88920" y="2011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0.822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889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80360" y="3063240"/>
            <a:ext cx="164592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889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Ensemble 100 arbres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Robuste au bruit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926080" y="521208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4F8EF7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92608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Tres bon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0" y="1005840"/>
            <a:ext cx="2011680" cy="489204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Gradient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Boosting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20640" y="2011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1206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12080" y="3063240"/>
            <a:ext cx="164592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1206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Apprentissage sequentiel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Correction des erreurs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57800" y="521208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25780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Excellen</a:t>
            </a: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1005840"/>
            <a:ext cx="2011680" cy="4892040"/>
          </a:xfrm>
          <a:prstGeom prst="roundRect">
            <a:avLst>
              <a:gd name="adj" fmla="val 6818"/>
            </a:avLst>
          </a:prstGeom>
          <a:solidFill>
            <a:srgbClr val="0D2A1A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360920" y="100584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36092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 MEILLEUR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XGBoost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Tune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52360" y="2377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0.850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4523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43800" y="3429000"/>
            <a:ext cx="164592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45236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GridSearchCV tuning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Meilleur modele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89520" y="466344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34D399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58952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MEILLEUR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692640" y="1005840"/>
            <a:ext cx="2011680" cy="489204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016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978408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SVR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(RBF)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784080" y="2011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0.807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7840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875520" y="3063240"/>
            <a:ext cx="1645920" cy="0"/>
          </a:xfrm>
          <a:prstGeom prst="line">
            <a:avLst/>
          </a:prstGeom>
          <a:noFill/>
          <a:ln w="1016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978408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Noyau RBF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Bon mais plus lent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921240" y="521208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FBBF2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992124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04 — Resultats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0.8502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85% de la variance expliquee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560320" cy="4572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8328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 = ₹9 075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Erreur absolue moyenne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1792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= ₹21 316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Erreur quadratique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61120" y="9601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961120" y="960120"/>
            <a:ext cx="2560320" cy="45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905256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R² = 0.712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525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croisee 5-fold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10972800" cy="36576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Comparaison R² par modele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Reg. Lineaire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4461540"/>
            <a:ext cx="914400" cy="887700"/>
          </a:xfrm>
          <a:prstGeom prst="roundRect">
            <a:avLst>
              <a:gd name="adj" fmla="val 5150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41415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0.7309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4884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SVR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06040" y="3629802"/>
            <a:ext cx="914400" cy="1719438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606040" y="330976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0.8067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89120" y="3463016"/>
            <a:ext cx="914400" cy="1886224"/>
          </a:xfrm>
          <a:prstGeom prst="roundRect">
            <a:avLst>
              <a:gd name="adj" fmla="val 5000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389120" y="31429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0.8219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 Boost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2200" y="3224906"/>
            <a:ext cx="914400" cy="2124334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72200" y="290486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0.8436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955280" y="3306105"/>
            <a:ext cx="914400" cy="2043135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955280" y="2986065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0.8362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8116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 Tune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738360" y="3152485"/>
            <a:ext cx="914400" cy="2196755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9738360" y="2832445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0.8502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5440680"/>
            <a:ext cx="10515600" cy="0"/>
          </a:xfrm>
          <a:prstGeom prst="line">
            <a:avLst/>
          </a:prstGeom>
          <a:noFill/>
          <a:ln w="1270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05 — Importance des Variables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 de Contact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0" y="105156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0" y="1051560"/>
            <a:ext cx="4776094" cy="320040"/>
          </a:xfrm>
          <a:prstGeom prst="roundRect">
            <a:avLst>
              <a:gd name="adj" fmla="val 14286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109960" y="9601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65.3%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Salles de bain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1351849" cy="320040"/>
          </a:xfrm>
          <a:prstGeom prst="roundRect">
            <a:avLst>
              <a:gd name="adj" fmla="val 14286"/>
            </a:avLst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10996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18.5%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4720" y="260604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474720" y="2606040"/>
            <a:ext cx="452811" cy="320040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1109960" y="2514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6.2%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BHK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0" y="338328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474720" y="3383280"/>
            <a:ext cx="245059" cy="320040"/>
          </a:xfrm>
          <a:prstGeom prst="roundRect">
            <a:avLst>
              <a:gd name="adj" fmla="val 18657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1109960" y="3291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(log)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0" y="416052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474720" y="4160520"/>
            <a:ext cx="215067" cy="320040"/>
          </a:xfrm>
          <a:prstGeom prst="roundRect">
            <a:avLst>
              <a:gd name="adj" fmla="val 21258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1109960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Meublage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493776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474720" y="4937760"/>
            <a:ext cx="152156" cy="320040"/>
          </a:xfrm>
          <a:prstGeom prst="roundRect">
            <a:avLst>
              <a:gd name="adj" fmla="val 30048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1109960" y="4846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Etage, Superficie, Locataire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74720" y="5715000"/>
            <a:ext cx="7498080" cy="320040"/>
          </a:xfrm>
          <a:prstGeom prst="roundRect">
            <a:avLst>
              <a:gd name="adj" fmla="val 14286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474720" y="5715000"/>
            <a:ext cx="120701" cy="320040"/>
          </a:xfrm>
          <a:prstGeom prst="roundRect">
            <a:avLst>
              <a:gd name="adj" fmla="val 37879"/>
            </a:avLst>
          </a:prstGeom>
          <a:solidFill>
            <a:srgbClr val="1C26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1109960" y="5623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6172200"/>
            <a:ext cx="11384280" cy="685794"/>
          </a:xfrm>
          <a:prstGeom prst="roundRect">
            <a:avLst>
              <a:gd name="adj" fmla="val 14118"/>
            </a:avLst>
          </a:prstGeom>
          <a:solidFill>
            <a:srgbClr val="0D1F3C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" y="6172200"/>
            <a:ext cx="54864" cy="77724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31520" y="6263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cle : Point de Contact (65.3%) domine — les biens via agents/builders ciblent le segment premium. Salles de bain (18.5%) et Ville (6.2%) confirment les drivers classiques du marche immobilier.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05 — Dashboard &amp; Deploiement Web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00" cy="4572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4F8EF7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Dashboard EDA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Visualisations interactives : loyers par ville, par meublage, BHK, comparaison modeles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548640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502920" cy="502920"/>
          </a:xfrm>
          <a:prstGeom prst="ellipse">
            <a:avLst/>
          </a:prstGeom>
          <a:solidFill>
            <a:srgbClr val="34D399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1143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Prediction individuelle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Formulaire de saisie manuelle → estimation instantanee avec fourchette de confiance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54864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611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Prediction par fichier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 CSV → predictions batch pour plusieurs logements, export resultats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34290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5486400" cy="45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00800" y="3657600"/>
            <a:ext cx="502920" cy="502920"/>
          </a:xfrm>
          <a:prstGeom prst="ellipse">
            <a:avLst/>
          </a:prstGeom>
          <a:solidFill>
            <a:srgbClr val="FBBF24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3611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Analyse des modeles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55080" y="42062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Comparaison R²/MAE/RMSE, CV scores, hyperparametres, feature importance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603504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C2639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31520" y="6126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Stack technique : Python (scikit-learn, XGBoost, pandas) → Modele entraine →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House Rent Prediction —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0" y="-1371600"/>
            <a:ext cx="4572000" cy="4572000"/>
          </a:xfrm>
          <a:prstGeom prst="ellipse">
            <a:avLst/>
          </a:prstGeom>
          <a:solidFill>
            <a:srgbClr val="4F8EF7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731520" y="411480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07 — Conclusion &amp; Perspectives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0972800" cy="0"/>
          </a:xfrm>
          <a:prstGeom prst="line">
            <a:avLst/>
          </a:prstGeom>
          <a:noFill/>
          <a:ln w="19050">
            <a:solidFill>
              <a:srgbClr val="1C26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1005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0058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= 85.02% avec XGBoost tune — objectif depasse (&gt;80%)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 complet : EDA → Nettoyage → Encodage → Modeles → Validation croisee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234440" y="29260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algorithmes compares avec GridSearchCV et hyperparametres justifies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234440" y="38862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deploye : prediction individuelle + batch CSV + visualisations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6350">
            <a:solidFill>
              <a:srgbClr val="1E2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234440" y="4846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 cles identifiees : Point de contact, Salles de bain, Ville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67331C-B97F-A5A3-2CE0-81F2F1F743C3}"/>
              </a:ext>
            </a:extLst>
          </p:cNvPr>
          <p:cNvSpPr/>
          <p:nvPr/>
        </p:nvSpPr>
        <p:spPr>
          <a:xfrm>
            <a:off x="47801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15097A-DF81-859B-512A-45681F8011EB}"/>
              </a:ext>
            </a:extLst>
          </p:cNvPr>
          <p:cNvSpPr/>
          <p:nvPr/>
        </p:nvSpPr>
        <p:spPr>
          <a:xfrm>
            <a:off x="-1221474" y="3815914"/>
            <a:ext cx="4114800" cy="411480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D95F28E-2977-5324-5F09-E2F982DEFD92}"/>
              </a:ext>
            </a:extLst>
          </p:cNvPr>
          <p:cNvSpPr/>
          <p:nvPr/>
        </p:nvSpPr>
        <p:spPr>
          <a:xfrm>
            <a:off x="9696735" y="-1072714"/>
            <a:ext cx="4114800" cy="411480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516818-3955-7B35-101C-5975B363BE05}"/>
              </a:ext>
            </a:extLst>
          </p:cNvPr>
          <p:cNvSpPr/>
          <p:nvPr/>
        </p:nvSpPr>
        <p:spPr>
          <a:xfrm>
            <a:off x="121693" y="2005538"/>
            <a:ext cx="11655188" cy="147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  <a:ea typeface="Arial Black" pitchFamily="34" charset="-122"/>
                <a:cs typeface="Times New Roman" panose="02020603050405020304" pitchFamily="18" charset="0"/>
              </a:rPr>
              <a:t>Merci pour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lgerian" panose="04020705040A02060702" pitchFamily="82" charset="0"/>
                <a:ea typeface="Arial Black" pitchFamily="34" charset="-122"/>
                <a:cs typeface="Times New Roman" panose="02020603050405020304" pitchFamily="18" charset="0"/>
              </a:rPr>
              <a:t>votre attention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0F77E7-4D39-D6C3-2E39-7517A6487D9D}"/>
              </a:ext>
            </a:extLst>
          </p:cNvPr>
          <p:cNvSpPr/>
          <p:nvPr/>
        </p:nvSpPr>
        <p:spPr>
          <a:xfrm>
            <a:off x="2173405" y="3391058"/>
            <a:ext cx="7523329" cy="45719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EDBB346-898E-9F77-8B07-7B61C89852AC}"/>
              </a:ext>
            </a:extLst>
          </p:cNvPr>
          <p:cNvSpPr/>
          <p:nvPr/>
        </p:nvSpPr>
        <p:spPr>
          <a:xfrm flipV="1">
            <a:off x="2380397" y="2078164"/>
            <a:ext cx="7316338" cy="45719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FB29081-7CB3-F9FF-DD93-4157EF443D06}"/>
              </a:ext>
            </a:extLst>
          </p:cNvPr>
          <p:cNvCxnSpPr/>
          <p:nvPr/>
        </p:nvCxnSpPr>
        <p:spPr>
          <a:xfrm>
            <a:off x="2173405" y="3671248"/>
            <a:ext cx="7523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F0B5F5D-73BD-22B8-B56D-D0F4882E82D3}"/>
              </a:ext>
            </a:extLst>
          </p:cNvPr>
          <p:cNvCxnSpPr/>
          <p:nvPr/>
        </p:nvCxnSpPr>
        <p:spPr>
          <a:xfrm>
            <a:off x="2173404" y="2322394"/>
            <a:ext cx="7523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874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10632</TotalTime>
  <Words>658</Words>
  <Application>Microsoft Office PowerPoint</Application>
  <PresentationFormat>Grand écran</PresentationFormat>
  <Paragraphs>205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Calibri</vt:lpstr>
      <vt:lpstr>Times New Roman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Zak Sow</cp:lastModifiedBy>
  <cp:revision>7</cp:revision>
  <dcterms:created xsi:type="dcterms:W3CDTF">2026-06-04T20:44:09Z</dcterms:created>
  <dcterms:modified xsi:type="dcterms:W3CDTF">2026-06-12T23:52:38Z</dcterms:modified>
</cp:coreProperties>
</file>